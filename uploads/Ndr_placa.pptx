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3935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de capa do Projeto NDR.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Visão geral de todos os componentes.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Protoboard: estrutura, motivo de duas placas e comunicação entre 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Arduino Uno R3 como gerenciador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Blocos 1 e 2 do LCD: alimentação, contraste e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Blocos 3 e 4 do LCD: barramento de dados modo 4 bits e backlight.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Função de cada LED e mapeamento de portas.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Fio do cátodo, quantidade de resistores e Lei de Ohm.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Buzzer: função, pinos, porta D13 e controle de frequência.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Boas práticas de fiação e convenções de cores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Mapa completo de todas as portas do Arduino utilizadas.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Glossário de termos técnicos: cátodo, ânodo, modo 4 bits, Lei de Ohm, ponte de alimentação.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Conclusão: recapitular todos os pontos aprendidos.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35040" y="0"/>
            <a:ext cx="54864" cy="68580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ircuit_cropped.png"/>
          <p:cNvPicPr>
            <a:picLocks noChangeAspect="1"/>
          </p:cNvPicPr>
          <p:nvPr/>
        </p:nvPicPr>
        <p:blipFill rotWithShape="1">
          <a:blip r:embed="rId3"/>
          <a:srcRect t="11018"/>
          <a:stretch/>
        </p:blipFill>
        <p:spPr>
          <a:xfrm>
            <a:off x="6217920" y="1097280"/>
            <a:ext cx="5760720" cy="5212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2103120"/>
            <a:ext cx="64008" cy="201168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B4FF"/>
                </a:solidFill>
              </a:rPr>
              <a:t>NDR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Projeto Arduino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E5FF"/>
                </a:solidFill>
              </a:rPr>
              <a:t>Circuito com Arduino Uno R3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29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F0"/>
                </a:solidFill>
              </a:rPr>
              <a:t>Documentação técnica completa dos
componentes, fiação e funcionamento
do sistema eletrônico.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09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FF"/>
                </a:solidFill>
              </a:rPr>
              <a:t>Tinkercad  ·  Arduino  ·  Eletrônica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Visão Geral do Circuito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85800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FF"/>
                </a:solidFill>
              </a:rPr>
              <a:t>Todos os componentes e suas funções no sistema</a:t>
            </a:r>
          </a:p>
        </p:txBody>
      </p:sp>
      <p:pic>
        <p:nvPicPr>
          <p:cNvPr id="8" name="Picture 7" descr="circuit_cropped.png"/>
          <p:cNvPicPr>
            <a:picLocks noChangeAspect="1"/>
          </p:cNvPicPr>
          <p:nvPr/>
        </p:nvPicPr>
        <p:blipFill rotWithShape="1">
          <a:blip r:embed="rId3"/>
          <a:srcRect l="-1052" t="11638" r="4727"/>
          <a:stretch/>
        </p:blipFill>
        <p:spPr>
          <a:xfrm>
            <a:off x="274320" y="1431350"/>
            <a:ext cx="6694039" cy="46863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52360" y="1051560"/>
            <a:ext cx="4480560" cy="5303520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1143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FF"/>
                </a:solidFill>
              </a:rPr>
              <a:t>Componentes do Projeto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572768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🔵  Arduino Uno R3 — cérebro do sistema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002536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📋  2 Protoboards — organização por função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432304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🖥️  Display LCD 16x2 — saída de 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862072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🔴  LED Vermelho (D8) — Erro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291839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🟠  LED Laranja (D7) — Remover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721607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🟡  LED Amarelo (D9) — Listar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151375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🟢  LED Verde (D10) — Sucesso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4581143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🔊  Buzzer (D13) — Alerta sonoro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010911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⚡  Resistores — proteção dos LEDs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440679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🔗  Jumpers coloridos — rastreabilidade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Placa de Ensaio (Protoboard)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85800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FF"/>
                </a:solidFill>
              </a:rPr>
              <a:t>O que é, por que duas placas e como se comunicam</a:t>
            </a:r>
          </a:p>
        </p:txBody>
      </p:sp>
      <p:pic>
        <p:nvPicPr>
          <p:cNvPr id="8" name="Picture 7" descr="breadboard_protoboard_electronic_compone_eb217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4754880" cy="3474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303520" y="1051560"/>
            <a:ext cx="6583680" cy="1417320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1115568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1. O que é e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481328"/>
            <a:ext cx="6217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 protoboard serve como bancada de testes para circuitos eletrônicos. Permite conectar componentes — LEDs, resistores e o Arduino — SEM SOLDA, facilitando alterações rápidas e testes seguros.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2578608"/>
            <a:ext cx="6583680" cy="2011680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0" y="2642616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2. Por que foram necessárias DUAS placas?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017520"/>
            <a:ext cx="6217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</a:rPr>
              <a:t>Limitação de Espaço: O LCD usa 16 conexões — juntar tudo numa placa deixaria o circuito poluído e propenso a erros.</a:t>
            </a:r>
          </a:p>
          <a:p>
            <a:r>
              <a:rPr sz="1200" b="0">
                <a:solidFill>
                  <a:srgbClr val="C8D8F0"/>
                </a:solidFill>
              </a:rPr>
              <a:t>  ▸ Placa Superior: dedicada exclusivamente ao Display LCD.</a:t>
            </a:r>
          </a:p>
          <a:p>
            <a:r>
              <a:rPr sz="1200" b="0">
                <a:solidFill>
                  <a:srgbClr val="C8D8F0"/>
                </a:solidFill>
              </a:rPr>
              <a:t>  ▸ Placa Inferior: destinada aos LEDs e ao Buzzer.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709160"/>
            <a:ext cx="11612880" cy="1627632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773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3. Como as duas placas se comunicam?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389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As placas funcionam juntas por meio de uma PONTE DE ALIMENTAÇÃO. As portas de 5V (positivo) e GND (negativo) do Arduino foram conectadas à primeira placa e, através de jumpers (fios), essa mesma energia foi estendida para as trilhas de alimentação da segunda placa.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Arduino Uno R3 — O Cérebro do Projeto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85800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FF"/>
                </a:solidFill>
              </a:rPr>
              <a:t>Microcontrolador central do circuito</a:t>
            </a:r>
          </a:p>
        </p:txBody>
      </p:sp>
      <p:pic>
        <p:nvPicPr>
          <p:cNvPr id="8" name="Picture 7" descr="arduino_uno_r3_microcontroller_board_cle_42d27e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4663440" cy="3657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212080" y="1051560"/>
            <a:ext cx="6766560" cy="1417320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94960" y="11155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1. O que é e para que serve?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481328"/>
            <a:ext cx="64008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Placa de microcontrolador que funciona como o 'cérebro' do projeto. Lê informações de entrada (sensores/comandos) e processa via código para controlar LEDs, buzzer e o display LCD.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2578608"/>
            <a:ext cx="6766560" cy="1965960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94960" y="264261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2. Função neste projeto específico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01752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</a:rPr>
              <a:t>▸ Distribuição de Energia: fornece 5V e GND para manter todo o circuito estável.</a:t>
            </a:r>
          </a:p>
          <a:p>
            <a:r>
              <a:rPr sz="1200" b="0">
                <a:solidFill>
                  <a:srgbClr val="FFFFFF"/>
                </a:solidFill>
              </a:rPr>
              <a:t>▸ Controle do Display: processa texto e envia comandos ao LCD via múltiplos pinos digitais.</a:t>
            </a:r>
          </a:p>
          <a:p>
            <a:r>
              <a:rPr sz="1200" b="0">
                <a:solidFill>
                  <a:srgbClr val="FFFFFF"/>
                </a:solidFill>
              </a:rPr>
              <a:t>▸ Lógica de Sinalização: dita o momento exato de cada LED e quando o buzzer emite som.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663440"/>
            <a:ext cx="11612880" cy="1673352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7274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3. Por que o modelo Uno R3 no Tinkercad?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93208"/>
            <a:ext cx="114300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 Arduino Uno R3 é o padrão da indústria para aprendizado — o mais utilizado no Tinkercad. Possui o número PERFEITO de portas digitais e analógicas para este projeto, permitindo conectar o display de 16 pinos e todos os periféricos de alerta ao mesmo tempo, sem faltar espaço para os fios.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Display LCD 16x2 — Blocos 1 e 2: Alimentação e Controle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85800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FF"/>
                </a:solidFill>
              </a:rPr>
              <a:t>Pinos 1–6: energia, contraste e controle de dados</a:t>
            </a:r>
          </a:p>
        </p:txBody>
      </p:sp>
      <p:pic>
        <p:nvPicPr>
          <p:cNvPr id="8" name="Picture 7" descr="lcd_16x2_display_module_blue_backlight_e_c55770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4389120" cy="3200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937760" y="1051560"/>
            <a:ext cx="6949440" cy="1874519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40" y="111556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Bloco 1 — Alimentação e Contraste (Pinos 1 a 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481328"/>
            <a:ext cx="6583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</a:rPr>
              <a:t>Pino 1 – GND  (Fio Preto):  ligado na trilha negativa (−). É o terra do circuito.</a:t>
            </a:r>
          </a:p>
          <a:p>
            <a:r>
              <a:rPr sz="1200" b="0">
                <a:solidFill>
                  <a:srgbClr val="FFFFFF"/>
                </a:solidFill>
              </a:rPr>
              <a:t>Pino 2 – VCC  (Fio Vermelho):  ligado na trilha positiva (+). Alimenta a lógica com 5V.</a:t>
            </a:r>
          </a:p>
          <a:p>
            <a:r>
              <a:rPr sz="1200" b="0">
                <a:solidFill>
                  <a:srgbClr val="FFFFFF"/>
                </a:solidFill>
              </a:rPr>
              <a:t>Pino 3 – V0   (Fio Preto):  ligado direto na trilha (−). Fixa o contraste no MÁXIMO sem potenciômetro.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3017520"/>
            <a:ext cx="6949440" cy="2011680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0" y="308152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Bloco 2 — Controle de Dados (Pinos 4 a 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447288"/>
            <a:ext cx="6583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</a:rPr>
              <a:t>Pino 4 – RS / Register Select  (Fio Verde):  porta digital 12. Avisa se o dado é comando de configuração ou texto.</a:t>
            </a:r>
          </a:p>
          <a:p>
            <a:r>
              <a:rPr sz="1200" b="0">
                <a:solidFill>
                  <a:srgbClr val="FFFFFF"/>
                </a:solidFill>
              </a:rPr>
              <a:t>Pino 5 – RW / Read·Write  (Fio Preto curto):  jumpereado na trilha (−). Trava o LCD no modo ESCRITA (só recebe dados).</a:t>
            </a:r>
          </a:p>
          <a:p>
            <a:r>
              <a:rPr sz="1200" b="0">
                <a:solidFill>
                  <a:srgbClr val="FFFFFF"/>
                </a:solidFill>
              </a:rPr>
              <a:t>Pino 6 – E / Enable  (Fio Verde):  porta digital 11. Funciona como GATILHO para ativar a comunicação.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120640"/>
            <a:ext cx="11612880" cy="1216152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5184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💡  O Fio Azul Claro isolado no topo da placa superior: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3212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Sai da porta digital 13 do Arduino e DESCE em direção à placa inferior, indo direto ao Buzzer para controlar os bipes sonoros do projeto.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Display LCD 16x2 — Blocos 3 e 4: Dados e Backlight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85800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FF"/>
                </a:solidFill>
              </a:rPr>
              <a:t>Pinos 11–16: transmissão de dados e iluminação de fundo</a:t>
            </a:r>
          </a:p>
        </p:txBody>
      </p:sp>
      <p:pic>
        <p:nvPicPr>
          <p:cNvPr id="8" name="Picture 7" descr="lcd_16x2_display_module_blue_backlight_e_c55770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4389120" cy="3200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937760" y="1051560"/>
            <a:ext cx="6949440" cy="2468880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40" y="111556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Bloco 3 — Barramento de Dados (Pinos 11 a 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481328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Os pinos DB0–DB3 ficam VAZIOS (correto para o modo de 4 bits).
Os quatro fios verdes abaixo são os dados: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993392"/>
            <a:ext cx="6583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</a:rPr>
              <a:t>Pino 11 – DB4  (Fio Verde):  porta digital 5.</a:t>
            </a:r>
          </a:p>
          <a:p>
            <a:r>
              <a:rPr sz="1200" b="0">
                <a:solidFill>
                  <a:srgbClr val="FFFFFF"/>
                </a:solidFill>
              </a:rPr>
              <a:t>Pino 12 – DB5  (Fio Verde):  porta digital 4.</a:t>
            </a:r>
          </a:p>
          <a:p>
            <a:r>
              <a:rPr sz="1200" b="0">
                <a:solidFill>
                  <a:srgbClr val="FFFFFF"/>
                </a:solidFill>
              </a:rPr>
              <a:t>Pino 13 – DB6  (Fio Verde):  porta digital 3.</a:t>
            </a:r>
          </a:p>
          <a:p>
            <a:r>
              <a:rPr sz="1200" b="0">
                <a:solidFill>
                  <a:srgbClr val="FFFFFF"/>
                </a:solidFill>
              </a:rPr>
              <a:t>Pino 14 – DB7  (Fio Verde):  porta digital 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3630168"/>
            <a:ext cx="6949440" cy="1389888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0" y="3694176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⭐  Nota de Ouro para a Apresentação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059936"/>
            <a:ext cx="65836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Esses 4 pinos (DB4–DB7) transmitem os caracteres que formam as palavras na tela em blocos de 4 bits por vez — por isso o nome 'modo de 4 bits'.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120640"/>
            <a:ext cx="11612880" cy="1216152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5184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Bloco 4 — Luz de Fundo / Backlight (Pinos 15 e 16)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5040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</a:rPr>
              <a:t>Pino 15 – LED Ânodo  (Resistor → Trilha +):  resistor limita a corrente para iluminar o fundo com segurança.</a:t>
            </a:r>
          </a:p>
          <a:p>
            <a:r>
              <a:rPr sz="1200" b="0">
                <a:solidFill>
                  <a:srgbClr val="FFFFFF"/>
                </a:solidFill>
              </a:rPr>
              <a:t>Pino 16 – LED Cátodo  (Fio Preto → Trilha −):  fecha o circuito do LED de fundo.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LEDs de Sinalização — Função e Mapeamento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85800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FF"/>
                </a:solidFill>
              </a:rPr>
              <a:t>Linguagem visual do sistema</a:t>
            </a:r>
          </a:p>
        </p:txBody>
      </p:sp>
      <p:pic>
        <p:nvPicPr>
          <p:cNvPr id="8" name="Picture 7" descr="four_led_lights_red_orange_yellow_green__d59e47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4114800" cy="2926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663440" y="1051560"/>
            <a:ext cx="7223760" cy="886968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63440" y="1051560"/>
            <a:ext cx="118872" cy="88696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64608" y="110642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333"/>
                </a:solidFill>
              </a:rPr>
              <a:t>🔴  LED Vermelho — Porta Digital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15087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Acende quando ocorre um ERRO no sistema.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002536"/>
            <a:ext cx="7223760" cy="886968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63440" y="2002536"/>
            <a:ext cx="118872" cy="886968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64608" y="2057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800"/>
                </a:solidFill>
              </a:rPr>
              <a:t>🟠  LED Laranja — Porta Digital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245973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Acende para indicar a ação de REMOVER um item ou dado.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953512"/>
            <a:ext cx="7223760" cy="886968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63440" y="2953512"/>
            <a:ext cx="118872" cy="886968"/>
          </a:xfrm>
          <a:prstGeom prst="rect">
            <a:avLst/>
          </a:prstGeom>
          <a:solidFill>
            <a:srgbClr val="FFE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8" y="300837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E000"/>
                </a:solidFill>
              </a:rPr>
              <a:t>🟡  LED Amarelo — Porta Digital 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341071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Acende quando o sistema está LISTANDO dados na tela.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904487"/>
            <a:ext cx="7223760" cy="886968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63440" y="3904487"/>
            <a:ext cx="118872" cy="886968"/>
          </a:xfrm>
          <a:prstGeom prst="rect">
            <a:avLst/>
          </a:prstGeom>
          <a:solidFill>
            <a:srgbClr val="00E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64608" y="3959351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050"/>
                </a:solidFill>
              </a:rPr>
              <a:t>🟢  LED Verde — Porta Digital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436168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Acende para sinalizar SUCESSO de uma operação.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206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Como funcionam as portas?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57200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As portas digitais funcionam como interruptores automáticos controlados pelo código: enviam 5V para acender cada cor de forma totalmente independente.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LEDs — Resistores, Cátodo e Estilo de Fiação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85800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FF"/>
                </a:solidFill>
              </a:rPr>
              <a:t>Lei de Ohm, fio de retorno e boas práticas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11612880" cy="1920240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1. Para que serve o fio puxado da perna reta (Cátodo) de cada LED?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</a:rPr>
              <a:t>A perna reta é o polo NEGATIVO (cátodo). Cada LED possui um fio individual saindo dessa perna em direção à trilha GND.</a:t>
            </a:r>
          </a:p>
          <a:p>
            <a:r>
              <a:rPr sz="1200" b="0">
                <a:solidFill>
                  <a:srgbClr val="FFFFFF"/>
                </a:solidFill>
              </a:rPr>
              <a:t>▸ A Função do Fio: a eletricidade precisa fazer um caminho COMPLETO — entra pela perna curvada (+) vinda do Arduino,</a:t>
            </a:r>
          </a:p>
          <a:p>
            <a:r>
              <a:rPr sz="1200" b="0">
                <a:solidFill>
                  <a:srgbClr val="C8D8F0"/>
                </a:solidFill>
              </a:rPr>
              <a:t>   passa pelo LED para acendê-lo e OBRIGATORIAMENTE precisa sair pela perna reta. Esses fios são a 'rampa de saída' da corrente.</a:t>
            </a:r>
          </a:p>
          <a:p>
            <a:r>
              <a:rPr sz="1200" b="1">
                <a:solidFill>
                  <a:srgbClr val="FFD600"/>
                </a:solidFill>
              </a:rPr>
              <a:t>▸ Por que vão para o GND? Sem esse fio o circuito fica ABERTO — a energia não circula e o LED simplesmente não acende.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63240"/>
            <a:ext cx="11612880" cy="2148840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127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2. Diferença na quantidade de resistores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93008"/>
            <a:ext cx="11430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</a:rPr>
              <a:t>Vermelho e Amarelo  (1 resistor cada):  tensão natural ~1,8–2,0V. Um único componente padrão já reduz os 5V e protege o LED.</a:t>
            </a:r>
          </a:p>
          <a:p>
            <a:r>
              <a:rPr sz="1200" b="0">
                <a:solidFill>
                  <a:srgbClr val="FFFFFF"/>
                </a:solidFill>
              </a:rPr>
              <a:t>Verde e Laranja  (2 resistores em série cada):  tensão de operação maior (verde até ~3,0V). Com apenas 1 resistor de valor baixo,</a:t>
            </a:r>
          </a:p>
          <a:p>
            <a:r>
              <a:rPr sz="1200" b="0">
                <a:solidFill>
                  <a:srgbClr val="C8D8F0"/>
                </a:solidFill>
              </a:rPr>
              <a:t>  receberiam corrente em excesso → aviso de sobrecarga no Tinkercad. Dois resistores em série somam os valores criando o 'escudo' exato.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303520"/>
            <a:ext cx="11612880" cy="1435608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3675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3. Por que todos os resistores estão no polo NEGATIVO? — Lei de Ohm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33288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</a:rPr>
              <a:t>▸ Limitação de Corrente (U = R · I): o resistor reduz o fluxo de corrente no circuito inteiro, independentemente de estar antes ou depois do LED.</a:t>
            </a:r>
          </a:p>
          <a:p>
            <a:r>
              <a:rPr sz="1200" b="0">
                <a:solidFill>
                  <a:srgbClr val="FFFFFF"/>
                </a:solidFill>
              </a:rPr>
              <a:t>▸ Organização do Layout: a trilha comum de GND fica logo abaixo dos LEDs. Conectar os resistores ali evita cruzamento de fios coloridos no lado positivo → circuito muito mais limpo.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Buzzer — Alerta Sonoro do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85800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FF"/>
                </a:solidFill>
              </a:rPr>
              <a:t>Porta D13, pinos e controle por frequência</a:t>
            </a:r>
          </a:p>
        </p:txBody>
      </p:sp>
      <p:pic>
        <p:nvPicPr>
          <p:cNvPr id="8" name="Picture 7" descr="small_passive_buzzer_electronic_componen_e0a52b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4114800" cy="3657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663440" y="1051560"/>
            <a:ext cx="7223760" cy="1188720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63440" y="1051560"/>
            <a:ext cx="91440" cy="11887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110642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1. O que é e para que serve?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490472"/>
            <a:ext cx="6858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Componente de SAÍDA SONORA. Emite bipes e alarmes chamando atenção do usuário quando mudanças críticas acontecem no sistema — funciona em conjunto com os LEDs e o LCD.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304288"/>
            <a:ext cx="7223760" cy="1188720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63440" y="2304288"/>
            <a:ext cx="91440" cy="11887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0" y="235915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2. Pino Positivo / Ânodo — Fio Azul Claro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743200"/>
            <a:ext cx="6858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Conectado diretamente à porta digital 13 do Arduino. Essa porta envia os pulsos elétricos que fazem o buzzer vibrar e emitir som.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3557016"/>
            <a:ext cx="7223760" cy="1188720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63440" y="3557016"/>
            <a:ext cx="91440" cy="11887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361188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3. Pino Negativo / Cátodo — Fio Preto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995928"/>
            <a:ext cx="6858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Conectado à trilha comum de GND da placa inferior. Fecha o circuito elétrico, permitindo que a corrente retorne ao Arduino após passar pelo buzzer.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4809744"/>
            <a:ext cx="7223760" cy="1188720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63440" y="4809744"/>
            <a:ext cx="91440" cy="11887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0" y="4864607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4. Como funciona pela Porta 13?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248656"/>
            <a:ext cx="6858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Nível Alto (5V) → buzzer apita. Frequência Variável: o código controla velocidade e tom — bipes rápidos = erro crítico, bipe curto = confirmação de sucesso.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Estilo de Fiação &amp; Boas Práticas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85800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FF"/>
                </a:solidFill>
              </a:rPr>
              <a:t>Design dos fios e convenções de cores</a:t>
            </a:r>
          </a:p>
        </p:txBody>
      </p:sp>
      <p:pic>
        <p:nvPicPr>
          <p:cNvPr id="8" name="Picture 7" descr="circuit_cropped.png"/>
          <p:cNvPicPr>
            <a:picLocks noChangeAspect="1"/>
          </p:cNvPicPr>
          <p:nvPr/>
        </p:nvPicPr>
        <p:blipFill rotWithShape="1">
          <a:blip r:embed="rId3"/>
          <a:srcRect t="13158"/>
          <a:stretch/>
        </p:blipFill>
        <p:spPr>
          <a:xfrm>
            <a:off x="274320" y="1737360"/>
            <a:ext cx="5760720" cy="4526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63640" y="1051560"/>
            <a:ext cx="5669280" cy="1188720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051560"/>
            <a:ext cx="91440" cy="11887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10642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📐  Ângulos de 90°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527048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Fios seguem linhas verticais e horizontais — eliminam cruzamentos e facilitam a leitura do circuito.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304288"/>
            <a:ext cx="5669280" cy="1188720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2304288"/>
            <a:ext cx="91440" cy="11887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3591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🔍  Rastreabilidade Visual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779776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Identifique instantaneamente de qual porta o sinal sai e em qual componente entra.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557016"/>
            <a:ext cx="5669280" cy="1188720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3557016"/>
            <a:ext cx="91440" cy="11887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6118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🧹  Centro Livre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032504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Caminhos periféricos mantêm o centro das placas livre — facilita manutenção e identificação de erros de montagem.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809744"/>
            <a:ext cx="5669280" cy="1188720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4809744"/>
            <a:ext cx="91440" cy="11887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4864607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🎨  Código de Cores dos Fios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285231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Vermelho = positivo (+)  |  Preto = negativo (−)  |  Verde = dados LCD  |  Azul Claro = buzzer  |  Coloridos = LEDs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Mapa Completo das Portas do Arduino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85800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FF"/>
                </a:solidFill>
              </a:rPr>
              <a:t>Todas as conexões digitais do sistema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24128"/>
            <a:ext cx="1527048" cy="402336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042415"/>
            <a:ext cx="1435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FF"/>
                </a:solidFill>
              </a:rPr>
              <a:t>Porta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1024128"/>
            <a:ext cx="3264408" cy="402336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03120" y="1042415"/>
            <a:ext cx="3172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FF"/>
                </a:solidFill>
              </a:rPr>
              <a:t>Componente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024128"/>
            <a:ext cx="3447288" cy="402336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77840" y="1042415"/>
            <a:ext cx="3355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FF"/>
                </a:solidFill>
              </a:rPr>
              <a:t>Função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024128"/>
            <a:ext cx="2761488" cy="402336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0" y="1042415"/>
            <a:ext cx="2670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FF"/>
                </a:solidFill>
              </a:rPr>
              <a:t>Cor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26464"/>
            <a:ext cx="152704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11680" y="1426464"/>
            <a:ext cx="326440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0" y="1426464"/>
            <a:ext cx="344728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426464"/>
            <a:ext cx="276148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79" y="146304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1463040"/>
            <a:ext cx="3154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LCD – DB7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14630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Dado 4 bits (LSB)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517904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1828800"/>
            <a:ext cx="152704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011680" y="1828800"/>
            <a:ext cx="326440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0" y="1828800"/>
            <a:ext cx="344728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0" y="1828800"/>
            <a:ext cx="276148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79" y="186537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1865376"/>
            <a:ext cx="3154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LCD – DB6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186537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Dado 4 bits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192024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2231136"/>
            <a:ext cx="152704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011680" y="2231136"/>
            <a:ext cx="326440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0" y="2231136"/>
            <a:ext cx="344728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144000" y="2231136"/>
            <a:ext cx="276148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79" y="226771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2267712"/>
            <a:ext cx="3154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LCD – DB5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226771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Dado 4 bits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35440" y="2322576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0040" y="2633472"/>
            <a:ext cx="152704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011680" y="2633472"/>
            <a:ext cx="326440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486400" y="2633472"/>
            <a:ext cx="344728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144000" y="2633472"/>
            <a:ext cx="276148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1479" y="267004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2670048"/>
            <a:ext cx="3154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LCD – DB4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267004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Dado 4 bits (MSB)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35440" y="2724912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20040" y="3035808"/>
            <a:ext cx="152704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011680" y="3035808"/>
            <a:ext cx="326440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486400" y="3035808"/>
            <a:ext cx="344728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144000" y="3035808"/>
            <a:ext cx="276148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11479" y="307238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800"/>
                </a:solidFill>
              </a:rPr>
              <a:t>D7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3072384"/>
            <a:ext cx="3154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LED Laranja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77840" y="307238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Remover item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35440" y="3127248"/>
            <a:ext cx="201168" cy="201168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20040" y="3438144"/>
            <a:ext cx="152704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011680" y="3438144"/>
            <a:ext cx="326440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486400" y="3438144"/>
            <a:ext cx="344728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144000" y="3438144"/>
            <a:ext cx="276148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11479" y="347472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333"/>
                </a:solidFill>
              </a:rPr>
              <a:t>D8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03120" y="3474720"/>
            <a:ext cx="3154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LED Vermelho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77840" y="347472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Erro no sistema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35440" y="3529584"/>
            <a:ext cx="201168" cy="20116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20040" y="3840480"/>
            <a:ext cx="152704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2011680" y="3840480"/>
            <a:ext cx="326440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486400" y="3840480"/>
            <a:ext cx="344728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144000" y="3840480"/>
            <a:ext cx="276148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11479" y="387705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E000"/>
                </a:solidFill>
              </a:rPr>
              <a:t>D9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03120" y="3877056"/>
            <a:ext cx="3154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LED Amarelo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77840" y="387705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Listar dados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235440" y="3931920"/>
            <a:ext cx="201168" cy="201168"/>
          </a:xfrm>
          <a:prstGeom prst="rect">
            <a:avLst/>
          </a:prstGeom>
          <a:solidFill>
            <a:srgbClr val="FFE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20040" y="4242816"/>
            <a:ext cx="152704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2011680" y="4242816"/>
            <a:ext cx="326440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486400" y="4242816"/>
            <a:ext cx="344728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144000" y="4242816"/>
            <a:ext cx="276148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11479" y="427939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050"/>
                </a:solidFill>
              </a:rPr>
              <a:t>D10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03120" y="4279392"/>
            <a:ext cx="3154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LED Verde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77840" y="42793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Sucesso de operação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235440" y="4334256"/>
            <a:ext cx="201168" cy="201168"/>
          </a:xfrm>
          <a:prstGeom prst="rect">
            <a:avLst/>
          </a:prstGeom>
          <a:solidFill>
            <a:srgbClr val="00E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20040" y="4645152"/>
            <a:ext cx="152704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011680" y="4645152"/>
            <a:ext cx="326440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5486400" y="4645152"/>
            <a:ext cx="344728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9144000" y="4645152"/>
            <a:ext cx="276148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11479" y="468172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FF"/>
                </a:solidFill>
              </a:rPr>
              <a:t>D11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03120" y="4681728"/>
            <a:ext cx="3154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LCD – Enable (E)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77840" y="468172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Gatilho de comunicação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235440" y="4736592"/>
            <a:ext cx="201168" cy="20116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320040" y="5047488"/>
            <a:ext cx="152704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2011680" y="5047488"/>
            <a:ext cx="326440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5486400" y="5047488"/>
            <a:ext cx="344728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9144000" y="5047488"/>
            <a:ext cx="276148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11479" y="508406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FF"/>
                </a:solidFill>
              </a:rPr>
              <a:t>D12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03120" y="5084064"/>
            <a:ext cx="3154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LCD – Register (RS)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77840" y="508406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Comando ou texto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235440" y="5138927"/>
            <a:ext cx="201168" cy="20116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320040" y="5449824"/>
            <a:ext cx="152704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2011680" y="5449824"/>
            <a:ext cx="326440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5486400" y="5449824"/>
            <a:ext cx="344728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9144000" y="5449824"/>
            <a:ext cx="276148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11479" y="548640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</a:rPr>
              <a:t>D13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03120" y="5486400"/>
            <a:ext cx="3154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Buzzer (+) Ânodo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577840" y="54864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Alerta sonoro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235440" y="5541264"/>
            <a:ext cx="201168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320040" y="5852160"/>
            <a:ext cx="152704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2011680" y="5852160"/>
            <a:ext cx="326440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5486400" y="5852160"/>
            <a:ext cx="344728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9144000" y="5852160"/>
            <a:ext cx="2761488" cy="38404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411479" y="588873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5V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03120" y="5888736"/>
            <a:ext cx="3154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Alimentação das placas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577840" y="588873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VCC do circuito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235440" y="5943600"/>
            <a:ext cx="201168" cy="20116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320040" y="6254496"/>
            <a:ext cx="152704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2011680" y="6254496"/>
            <a:ext cx="326440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5486400" y="6254496"/>
            <a:ext cx="344728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9144000" y="6254496"/>
            <a:ext cx="2761488" cy="384048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411479" y="629107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D8F0"/>
                </a:solidFill>
              </a:rPr>
              <a:t>GND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103120" y="6291072"/>
            <a:ext cx="3154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Terra geral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577840" y="629107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Referência 0 V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235440" y="6345936"/>
            <a:ext cx="201168" cy="201168"/>
          </a:xfrm>
          <a:prstGeom prst="rect">
            <a:avLst/>
          </a:prstGeom>
          <a:solidFill>
            <a:srgbClr val="C8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Glossário — Termos Técnicos Essenciais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85800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FF"/>
                </a:solidFill>
              </a:rPr>
              <a:t>Definições dos termos de polaridade do circuito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669280" cy="1645920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5669280" cy="54864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1143000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⚡  Cátodo (ou Cátodo)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554480"/>
            <a:ext cx="5440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É o nome do PINO NEGATIVO de componentes que possuem polaridade (LEDs e Buzzer). É por onde a corrente elétrica SAI do componente para voltar ao GND. Nos LEDs, corresponde à perna reta (mais curta).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51560"/>
            <a:ext cx="5669280" cy="1645920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051560"/>
            <a:ext cx="5669280" cy="54864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143000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FF"/>
                </a:solidFill>
              </a:rPr>
              <a:t>⚡  Ânodo (ou Ânodo)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554480"/>
            <a:ext cx="5440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É o nome do PINO POSITIVO. É por onde a energia ENTRA no componente, vinda das portas do Arduino (5V). Nos LEDs, corresponde à perna curvada (mais longa).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88920"/>
            <a:ext cx="5669280" cy="1645920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2788920"/>
            <a:ext cx="566928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79" y="2880360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🔗  Jumper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3291839"/>
            <a:ext cx="5440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Fio condutor utilizado para fazer as conexões entre a protoboard, o Arduino e os componentes. As cores seguem convenção: vermelho (+), preto (−), verde (dados), etc.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788920"/>
            <a:ext cx="5669280" cy="1645920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788920"/>
            <a:ext cx="566928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2880360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🔢  Modo 4 Bits (LCD)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291839"/>
            <a:ext cx="5440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Método de comunicação com o LCD que usa apenas 4 dos 8 pinos de dados (DB4–DB7), enviando os caracteres em dois blocos de 4 bits. Economiza portas do Arduino.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526279"/>
            <a:ext cx="5669280" cy="1645920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4526279"/>
            <a:ext cx="5669280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79" y="4617719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📐  Lei de Ohm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5029199"/>
            <a:ext cx="5440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 = R · I  →  Tensão = Resistência × Corrente. Usada para dimensionar os resistores e garantir que a corrente que passa pelos LEDs não os queime.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526279"/>
            <a:ext cx="5669280" cy="1645920"/>
          </a:xfrm>
          <a:prstGeom prst="rect">
            <a:avLst/>
          </a:prstGeom>
          <a:solidFill>
            <a:srgbClr val="0E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4526279"/>
            <a:ext cx="5669280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4617719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🔌  Ponte de Alimentação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029199"/>
            <a:ext cx="5440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Conexão de jumpers que estende o 5V e o GND do Arduino da placa superior para a placa inferior, alimentando todos os componentes de forma estável.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0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26480" y="0"/>
            <a:ext cx="54864" cy="68580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ircuit_cropped.png"/>
          <p:cNvPicPr>
            <a:picLocks noChangeAspect="1"/>
          </p:cNvPicPr>
          <p:nvPr/>
        </p:nvPicPr>
        <p:blipFill rotWithShape="1">
          <a:blip r:embed="rId3"/>
          <a:srcRect l="1159" t="11848" r="-1159" b="-2485"/>
          <a:stretch/>
        </p:blipFill>
        <p:spPr>
          <a:xfrm>
            <a:off x="182880" y="978408"/>
            <a:ext cx="5760720" cy="56052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6400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Conclusão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E5FF"/>
                </a:solidFill>
              </a:rPr>
              <a:t>O que aprendemos neste projeto?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✔  Protoboard elimina solda e agiliza testes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76856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✔  Duas placas = organização por função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79191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✔  Arduino Uno R3 gerencia energia e 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81527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✔  Modo 4 bits economiza portas do Arduino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83863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✔  LEDs traduzem estados do sistema em cores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8620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✔  Fio do cátodo fecha o circuito de cada 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88536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✔  Resistores em série protegem LEDs de alta tensão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69087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✔  Lei de Ohm garante corrente segura (U = R · 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9320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✔  Buzzer reforça alertas com sinais sonoros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495544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✔  LCD exibe mensagens em tempo real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89788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✔  Fiação organizada = menos erros de montagem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FF"/>
                </a:solidFill>
              </a:rPr>
              <a:t>Projeto NDR — Tinkercad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2186</Words>
  <Application>Microsoft Office PowerPoint</Application>
  <PresentationFormat>Widescreen</PresentationFormat>
  <Paragraphs>195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mendesisadora2205@gmail.com</cp:lastModifiedBy>
  <cp:revision>2</cp:revision>
  <dcterms:created xsi:type="dcterms:W3CDTF">2013-01-27T09:14:16Z</dcterms:created>
  <dcterms:modified xsi:type="dcterms:W3CDTF">2026-06-13T17:30:10Z</dcterms:modified>
  <cp:category/>
</cp:coreProperties>
</file>