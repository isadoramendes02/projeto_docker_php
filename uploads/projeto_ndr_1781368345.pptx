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23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capa. Apresentar o projeto NDR e seus objetivos gerais.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circuito completo e listar todos os componentes utilizados.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a função da protoboard e a decisão de usar duas placas por questões de espaço e organização.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Arduino Uno R3 como gerenciador central do circuito.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Detalhar cada pino do LCD e a comunicação em modo 4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a função visual de cada LED e a lógica de resistores.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Detalhar o buzzer, suas ligações e como a porta D13 controla os alertas sonoros.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Resumo de todas as portas digitais e analógicas utilizadas no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Boas práticas de fiação e convenções de cores adotadas no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Recapitular os pontos principais do projeto.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822960"/>
            <a:ext cx="521208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822960"/>
            <a:ext cx="521208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0" y="822960"/>
            <a:ext cx="5212080" cy="5212080"/>
          </a:xfrm>
          <a:prstGeom prst="rect">
            <a:avLst/>
          </a:prstGeom>
          <a:solidFill>
            <a:srgbClr val="0D1B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 rotWithShape="1">
          <a:blip r:embed="rId3"/>
          <a:srcRect l="977" t="30530" r="38790" b="8431"/>
          <a:stretch/>
        </p:blipFill>
        <p:spPr>
          <a:xfrm>
            <a:off x="6785163" y="906726"/>
            <a:ext cx="4809113" cy="47051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2560320"/>
            <a:ext cx="54864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Projeto NDR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B4D8"/>
                </a:solidFill>
              </a:rPr>
              <a:t>Circuito com Arduino 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Documentação técnica dos componentes,
fiação e funcionamento do sistema.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Tinkercad  •  Arduino  •  Eletrônica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Visão Geral do Circuito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 rotWithShape="1">
          <a:blip r:embed="rId3"/>
          <a:srcRect l="4582" t="32467" r="43263" b="8965"/>
          <a:stretch/>
        </p:blipFill>
        <p:spPr>
          <a:xfrm>
            <a:off x="1418897" y="1645920"/>
            <a:ext cx="3815255" cy="31061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051560"/>
            <a:ext cx="4480560" cy="53035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Componentes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• Arduino Uno R3 — cérebro do sistema</a:t>
            </a:r>
          </a:p>
          <a:p>
            <a:r>
              <a:rPr sz="1300">
                <a:solidFill>
                  <a:srgbClr val="FFFFFF"/>
                </a:solidFill>
              </a:rPr>
              <a:t>• 2 Protoboards — organização por funções</a:t>
            </a:r>
          </a:p>
          <a:p>
            <a:r>
              <a:rPr sz="1300">
                <a:solidFill>
                  <a:srgbClr val="FFFFFF"/>
                </a:solidFill>
              </a:rPr>
              <a:t>• Display LCD 16x2 — saída de texto</a:t>
            </a:r>
          </a:p>
          <a:p>
            <a:r>
              <a:rPr sz="1300">
                <a:solidFill>
                  <a:srgbClr val="FFFFFF"/>
                </a:solidFill>
              </a:rPr>
              <a:t>• 4 LEDs (vermelho, laranja, amarelo, verde)</a:t>
            </a:r>
          </a:p>
          <a:p>
            <a:r>
              <a:rPr sz="1300">
                <a:solidFill>
                  <a:srgbClr val="FFFFFF"/>
                </a:solidFill>
              </a:rPr>
              <a:t>• Buzzer — alerta sonoro na porta D13</a:t>
            </a:r>
          </a:p>
          <a:p>
            <a:r>
              <a:rPr sz="1300">
                <a:solidFill>
                  <a:srgbClr val="FFFFFF"/>
                </a:solidFill>
              </a:rPr>
              <a:t>• Resistores para proteção dos LEDs</a:t>
            </a:r>
          </a:p>
          <a:p>
            <a:r>
              <a:rPr sz="1300">
                <a:solidFill>
                  <a:srgbClr val="FFFFFF"/>
                </a:solidFill>
              </a:rPr>
              <a:t>• Jumpers coloridos para rastreabilidade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Placa de Ensaio (Protoboard)</a:t>
            </a:r>
          </a:p>
        </p:txBody>
      </p:sp>
      <p:pic>
        <p:nvPicPr>
          <p:cNvPr id="6" name="Picture 5" descr="breadboard_protoboard_electronic_compone_eb217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029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0" y="1097280"/>
            <a:ext cx="621792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5448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Bancada de testes para circuitos eletrônicos. Permite conectar componentes SEM SOLDA, facilitando testes e alterações rápidas.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423160"/>
            <a:ext cx="6217920" cy="2011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Por que DUAS placas?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926080"/>
            <a:ext cx="5852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• Placa Superior → Display LCD (16 conexões)</a:t>
            </a:r>
          </a:p>
          <a:p>
            <a:r>
              <a:rPr sz="1300">
                <a:solidFill>
                  <a:srgbClr val="FFFFFF"/>
                </a:solidFill>
              </a:rPr>
              <a:t>• Placa Inferior → LEDs e Buzzer</a:t>
            </a:r>
          </a:p>
          <a:p>
            <a:r>
              <a:rPr sz="1300">
                <a:solidFill>
                  <a:srgbClr val="FFFFFF"/>
                </a:solidFill>
              </a:rPr>
              <a:t>• Evita fiação poluída e erros de montagem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4526280"/>
            <a:ext cx="6217920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46177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Comunicação entre as placas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02920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Ponte de alimentação via jumpers — 5V e GND do Arduino estendem energia para ambas as placas.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Arduino Uno R3 — O Cérebro do Projeto</a:t>
            </a:r>
          </a:p>
        </p:txBody>
      </p:sp>
      <p:pic>
        <p:nvPicPr>
          <p:cNvPr id="6" name="Picture 5" descr="arduino_uno_r3_microcontroller_board_cle_42d27e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029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0" y="1097280"/>
            <a:ext cx="621792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0" y="11430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Distribuição de Energia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0876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Fornece 5V e GND para todo o circuito de forma estável.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194560"/>
            <a:ext cx="621792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224027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Controle do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0604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Envia comandos de texto ao LCD via múltiplos pinos digitais.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291839"/>
            <a:ext cx="621792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333755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Lógica de Sinalização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7033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Controla o momento exato de cada LED e os bipes do buzzer.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4389120"/>
            <a:ext cx="621792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44348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Por que o Uno R3?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80060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Modelo padrão da indústria — portas digitais e analógicas suficientes para o projeto.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Display LCD 16x2 — Saída de Texto</a:t>
            </a:r>
          </a:p>
        </p:txBody>
      </p:sp>
      <p:pic>
        <p:nvPicPr>
          <p:cNvPr id="6" name="Picture 5" descr="lcd_16x2_display_module_blue_backlight_e_c5577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5720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12080" y="1097280"/>
            <a:ext cx="50292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48656" y="111556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Pino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097280"/>
            <a:ext cx="640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51576" y="111556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Nome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97280"/>
            <a:ext cx="128016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11556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Conexão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097280"/>
            <a:ext cx="192024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71815" y="111556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Função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444752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48656" y="148132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1444752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51576" y="14813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444752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48132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Trilha 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1444752"/>
            <a:ext cx="19202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71815" y="148132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Terra do circuito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1810512"/>
            <a:ext cx="50292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48656" y="184708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1810512"/>
            <a:ext cx="640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51576" y="184708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VCC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810512"/>
            <a:ext cx="128016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91656" y="18470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Trilha + (5V)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1810512"/>
            <a:ext cx="192024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71815" y="184708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Alimenta a lógica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2176272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48656" y="221284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2176272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51576" y="221284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V0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176272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91656" y="221284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Trilha 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2176272"/>
            <a:ext cx="19202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71815" y="221284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Contraste máximo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2542032"/>
            <a:ext cx="50292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48656" y="257860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2542032"/>
            <a:ext cx="640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51576" y="257860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542032"/>
            <a:ext cx="128016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91656" y="257860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Digital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2542032"/>
            <a:ext cx="192024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1815" y="257860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Cmd vs. texto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2907792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656" y="294436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2907792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51576" y="294436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2907792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91656" y="294436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Trilha 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35240" y="2907792"/>
            <a:ext cx="19202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71815" y="294436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Modo escrita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3273552"/>
            <a:ext cx="50292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656" y="331012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0" y="3273552"/>
            <a:ext cx="640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51576" y="33101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3273552"/>
            <a:ext cx="128016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91656" y="331012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Digital 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35240" y="3273552"/>
            <a:ext cx="192024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671815" y="331012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Gatilho comunicação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12080" y="3639312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656" y="367588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15000" y="3639312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751576" y="367588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DB4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80" y="3639312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91656" y="3675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Digital 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35240" y="3639312"/>
            <a:ext cx="19202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671815" y="367588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Dado 4 bits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4005072"/>
            <a:ext cx="50292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48656" y="404164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15000" y="4005072"/>
            <a:ext cx="640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751576" y="404164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DB5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4005072"/>
            <a:ext cx="128016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91656" y="404164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Digital 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35240" y="4005072"/>
            <a:ext cx="192024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671815" y="404164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Dado 4 bits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12080" y="4370832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248656" y="440740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15000" y="4370832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751576" y="440740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DB6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4370832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91656" y="440740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Digital 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35240" y="4370832"/>
            <a:ext cx="19202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671815" y="440740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Dado 4 bits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12080" y="4736592"/>
            <a:ext cx="50292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248656" y="477316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15000" y="4736592"/>
            <a:ext cx="640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751576" y="477316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DB7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55080" y="4736592"/>
            <a:ext cx="128016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391656" y="477316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Digital 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35240" y="4736592"/>
            <a:ext cx="192024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671815" y="477316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Dado 4 bits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12080" y="5102352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248656" y="513892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15000" y="5102352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751576" y="51389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LED+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55080" y="5102352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391656" y="513892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Resistor → +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635240" y="5102352"/>
            <a:ext cx="19202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671815" y="513892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Backlight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12080" y="5468112"/>
            <a:ext cx="50292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248656" y="550468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15000" y="5468112"/>
            <a:ext cx="640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751576" y="550468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LED−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5468112"/>
            <a:ext cx="128016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91656" y="55046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Trilha −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35240" y="5468112"/>
            <a:ext cx="192024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671815" y="550468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Backlight retorno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4480560"/>
            <a:ext cx="457200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11480" y="45262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600"/>
                </a:solidFill>
              </a:rPr>
              <a:t>💡 Modo 4 bits: DB0–DB3 livres. DB4–DB7 transmitem caracteres em blocos de 4 bits por vez.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120640" y="4480560"/>
            <a:ext cx="676656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257800" y="452628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🔵 Fio Azul Claro na porta D13 → vai ao Buzzer da placa inferior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LEDs de Sinalização — Linguagem Visual do Sistema</a:t>
            </a:r>
          </a:p>
        </p:txBody>
      </p:sp>
      <p:pic>
        <p:nvPicPr>
          <p:cNvPr id="6" name="Picture 5" descr="four_led_lights_red_orange_yellow_green__d59e47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63440" y="1051560"/>
            <a:ext cx="7223760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3440" y="1051560"/>
            <a:ext cx="109728" cy="7498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08813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</a:rPr>
              <a:t>🔴 LED Vermelho — Porta D8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35607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Acende quando ocorre um ERRO no sistema.  (1 resistor)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874519"/>
            <a:ext cx="7223760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874519"/>
            <a:ext cx="109728" cy="74980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911095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00"/>
                </a:solidFill>
              </a:rPr>
              <a:t>🟠 LED Laranja — Porta D7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585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Acende ao REMOVER um item ou dado.  (2 resistores em série)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697479"/>
            <a:ext cx="7223760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2697479"/>
            <a:ext cx="109728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273405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</a:rPr>
              <a:t>🟡 LED Amarelo — Porta D9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81527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Acende ao LISTAR dados na tela do LCD.  (1 resistor)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520439"/>
            <a:ext cx="7223760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3520439"/>
            <a:ext cx="109728" cy="749808"/>
          </a:xfrm>
          <a:prstGeom prst="rect">
            <a:avLst/>
          </a:prstGeom>
          <a:solidFill>
            <a:srgbClr val="00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3557015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44"/>
                </a:solidFill>
              </a:rPr>
              <a:t>🟢 LED Verde — Porta D10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904487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Acende ao confirmar SUCESSO de operação.  (2 resistores em série)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34840"/>
            <a:ext cx="11612880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Por que quantidades diferentes de resistores?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463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Vermelho e Amarelo (tensão ~1.8–2.0V): 1 resistor padrão é suficiente.
Verde e Laranja (tensão até ~3.0V): 2 resistores em SÉRIE somam valores para proteção exata sem sobrecarregar o simulador.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623560"/>
            <a:ext cx="1161288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600"/>
                </a:solidFill>
              </a:rPr>
              <a:t>🔌 Todos os resistores conectados ao CATODO (polo −) dos LEDs → facilita layout e evita cruzamento de fios coloridos.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Buzzer — Alerta Sonoro do Sistema</a:t>
            </a:r>
          </a:p>
        </p:txBody>
      </p:sp>
      <p:pic>
        <p:nvPicPr>
          <p:cNvPr id="6" name="Picture 5" descr="small_passive_buzzer_electronic_componen_e0a52b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1148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63440" y="1097280"/>
            <a:ext cx="7223760" cy="1051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91440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15214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O que é?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Componente de saída SONORA. Emite bipes e alarmes chamando atenção do usuário em conjunto com os LEDs e o LCD.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240280"/>
            <a:ext cx="7223760" cy="1051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2240280"/>
            <a:ext cx="91440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29514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Pino Positivo / Ânodo — Fio Azul Claro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97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Conectado à porta digital 13 do Arduino. Envia pulsos elétricos que fazem o buzzer vibrar e emitir som.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383280"/>
            <a:ext cx="7223760" cy="1051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3383280"/>
            <a:ext cx="91440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343814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Pino Negativo / Cátodo — Fio Preto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Conectado à trilha GND da placa inferior. Fecha o circuito elétrico permitindo a corrente retornar ao Arduino.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526280"/>
            <a:ext cx="7223760" cy="1051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4526280"/>
            <a:ext cx="91440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458114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Como a Porta 13 controla o som?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983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Nível Alto (5V) → buzzer apita. O código controla frequência e duração: bipes rápidos = erro crítico, bipe curto = sucesso.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Mapa Completo das Portas do Arduino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Porta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448056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0241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Componente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005840"/>
            <a:ext cx="402336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0241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Função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89888"/>
            <a:ext cx="26517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389888"/>
            <a:ext cx="44805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1389888"/>
            <a:ext cx="40233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417320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20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LCD DB7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417320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Dados LCD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73936"/>
            <a:ext cx="26517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0" y="1773936"/>
            <a:ext cx="44805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1773936"/>
            <a:ext cx="40233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1801368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801368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LCD DB6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01368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Dados LCD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157984"/>
            <a:ext cx="26517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157984"/>
            <a:ext cx="44805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0" y="2157984"/>
            <a:ext cx="40233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185415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185415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LCD DB5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185415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Dados LCD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542032"/>
            <a:ext cx="26517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0" y="2542032"/>
            <a:ext cx="44805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0" y="2542032"/>
            <a:ext cx="40233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569464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569464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LCD DB4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569464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Dados LCD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26080"/>
            <a:ext cx="26517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0" y="2926080"/>
            <a:ext cx="44805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0" y="2926080"/>
            <a:ext cx="40233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953512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700"/>
                </a:solidFill>
              </a:rPr>
              <a:t>D7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2953512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LED Laranja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2953512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Remover item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310128"/>
            <a:ext cx="26517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0" y="3310128"/>
            <a:ext cx="44805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72400" y="3310128"/>
            <a:ext cx="40233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337560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</a:rPr>
              <a:t>D8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337560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LED Vermelho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337560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Erro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694176"/>
            <a:ext cx="26517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0" y="3694176"/>
            <a:ext cx="44805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772400" y="3694176"/>
            <a:ext cx="40233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721608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D9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3721608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LED Amarelo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721608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Listar dados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078224"/>
            <a:ext cx="26517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0" y="4078224"/>
            <a:ext cx="44805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72400" y="4078224"/>
            <a:ext cx="40233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4105656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C44"/>
                </a:solidFill>
              </a:rPr>
              <a:t>D10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4105656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LED Verde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105656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Sucesso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462272"/>
            <a:ext cx="26517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0" y="4462272"/>
            <a:ext cx="44805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772400" y="4462272"/>
            <a:ext cx="40233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4489704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D11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4489704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LCD Enable (E)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4489704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Gatilho LCD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846320"/>
            <a:ext cx="26517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200400" y="4846320"/>
            <a:ext cx="44805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772400" y="4846320"/>
            <a:ext cx="40233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4873752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D12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91840" y="4873752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LCD Register (RS)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4873752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Cmd/Texto LCD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230368"/>
            <a:ext cx="26517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00400" y="5230368"/>
            <a:ext cx="44805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772400" y="5230368"/>
            <a:ext cx="40233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5257800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FF"/>
                </a:solidFill>
              </a:rPr>
              <a:t>D13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91840" y="5257800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Buzzer (+)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5257800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Alerta sonoro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614416"/>
            <a:ext cx="26517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200400" y="5614416"/>
            <a:ext cx="44805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772400" y="5614416"/>
            <a:ext cx="4023360" cy="365759"/>
          </a:xfrm>
          <a:prstGeom prst="rect">
            <a:avLst/>
          </a:prstGeom>
          <a:solidFill>
            <a:srgbClr val="14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5641848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5V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91840" y="5641848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Alimentação placas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5641848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VCC circuito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5998464"/>
            <a:ext cx="26517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200400" y="5998464"/>
            <a:ext cx="44805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772400" y="5998464"/>
            <a:ext cx="4023360" cy="36575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57200" y="6025896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8"/>
                </a:solidFill>
              </a:rPr>
              <a:t>GND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6025896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Terra geral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63840" y="6025896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Referência 0V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Estilo de Fiação &amp; Boas Práticas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 rotWithShape="1">
          <a:blip r:embed="rId3"/>
          <a:srcRect l="7250" t="32214" r="32803" b="8842"/>
          <a:stretch/>
        </p:blipFill>
        <p:spPr>
          <a:xfrm>
            <a:off x="1145627" y="1600358"/>
            <a:ext cx="3563007" cy="31800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2240" y="1051560"/>
            <a:ext cx="539496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1064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📐 Ângulos de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49047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Fios seguem linhas verticais/horizontais — eliminam cruzamentos e facilitam a leitura do circuito.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075688"/>
            <a:ext cx="539496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130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🎨 Cor por função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Vermelho = positivo  |  Preto = negativo  |  Verde = dados LCD  |  Azul = buzzer  |  Coloridos = LEDs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099816"/>
            <a:ext cx="539496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🔍 Rastreabilidade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387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Identifique instantaneamente de qual porta o sinal sai e em qual componente entra.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123944"/>
            <a:ext cx="539496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1788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🧹 Centro livre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56285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Fios periféricos mantêm o centro da placa livre — facilita manutenção e identificação de erros.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5148072"/>
            <a:ext cx="539496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52029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⚠️ Ânodo vs Cátodo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586983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Ânodo (+) = perna curva → entra energia.  Cátodo (−) = perna reta → saída para GND.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 rotWithShape="1">
          <a:blip r:embed="rId3"/>
          <a:srcRect l="3825" t="30308" r="35820" b="9188"/>
          <a:stretch/>
        </p:blipFill>
        <p:spPr>
          <a:xfrm>
            <a:off x="1137593" y="1097280"/>
            <a:ext cx="3366463" cy="35961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286000"/>
            <a:ext cx="73152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731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4D8"/>
                </a:solidFill>
              </a:rPr>
              <a:t>O que aprendemos?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• Protoboard elimina solda e agiliza testes</a:t>
            </a:r>
          </a:p>
          <a:p>
            <a:r>
              <a:rPr sz="1400">
                <a:solidFill>
                  <a:srgbClr val="FFFFFF"/>
                </a:solidFill>
              </a:rPr>
              <a:t>• Duas placas = organização por função</a:t>
            </a:r>
          </a:p>
          <a:p>
            <a:r>
              <a:rPr sz="1400">
                <a:solidFill>
                  <a:srgbClr val="FFFFFF"/>
                </a:solidFill>
              </a:rPr>
              <a:t>• Arduino gerencia energia e dados</a:t>
            </a:r>
          </a:p>
          <a:p>
            <a:r>
              <a:rPr sz="1400">
                <a:solidFill>
                  <a:srgbClr val="FFFFFF"/>
                </a:solidFill>
              </a:rPr>
              <a:t>• LEDs traduzem estados do sistema em cores</a:t>
            </a:r>
          </a:p>
          <a:p>
            <a:r>
              <a:rPr sz="1400">
                <a:solidFill>
                  <a:srgbClr val="FFFFFF"/>
                </a:solidFill>
              </a:rPr>
              <a:t>• Buzzer reforça alertas com som</a:t>
            </a:r>
          </a:p>
          <a:p>
            <a:r>
              <a:rPr sz="1400">
                <a:solidFill>
                  <a:srgbClr val="FFFFFF"/>
                </a:solidFill>
              </a:rPr>
              <a:t>• LCD exibe mensagens em tempo real</a:t>
            </a:r>
          </a:p>
          <a:p>
            <a:r>
              <a:rPr sz="1400">
                <a:solidFill>
                  <a:srgbClr val="FFFFFF"/>
                </a:solidFill>
              </a:rPr>
              <a:t>• Fiação organizada = menos erros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309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Projeto NDR — Tinkercad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1018</Words>
  <Application>Microsoft Office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mendesisadora2205@gmail.com</cp:lastModifiedBy>
  <cp:revision>2</cp:revision>
  <dcterms:created xsi:type="dcterms:W3CDTF">2013-01-27T09:14:16Z</dcterms:created>
  <dcterms:modified xsi:type="dcterms:W3CDTF">2026-06-13T16:37:32Z</dcterms:modified>
  <cp:category/>
</cp:coreProperties>
</file>